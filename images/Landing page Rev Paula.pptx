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283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199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1204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085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749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3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018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059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415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772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382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F8E12-4C59-476E-979F-89F8B9E3C3FC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B98FE-E348-4257-AD91-8A1E879AF0F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380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391"/>
            <a:ext cx="12099236" cy="5459746"/>
          </a:xfrm>
          <a:prstGeom prst="rect">
            <a:avLst/>
          </a:prstGeom>
        </p:spPr>
      </p:pic>
      <p:cxnSp>
        <p:nvCxnSpPr>
          <p:cNvPr id="6" name="Conector recto 5"/>
          <p:cNvCxnSpPr/>
          <p:nvPr/>
        </p:nvCxnSpPr>
        <p:spPr>
          <a:xfrm flipH="1">
            <a:off x="1391478" y="2279374"/>
            <a:ext cx="66261" cy="33130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1981200" y="2279374"/>
            <a:ext cx="66261" cy="33130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238539" y="3949148"/>
            <a:ext cx="780553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 smtClean="0"/>
              <a:t>Es </a:t>
            </a:r>
            <a:r>
              <a:rPr lang="es-MX" dirty="0"/>
              <a:t>una herramienta práctica y muy sencilla para </a:t>
            </a:r>
            <a:r>
              <a:rPr lang="es-MX" dirty="0" smtClean="0"/>
              <a:t>organizar </a:t>
            </a:r>
            <a:r>
              <a:rPr lang="es-MX" dirty="0"/>
              <a:t>jornadas de limpieza de lagunas y otros cuerpos de agua, combinando </a:t>
            </a:r>
            <a:r>
              <a:rPr lang="es-MX" dirty="0" smtClean="0"/>
              <a:t>el retiro </a:t>
            </a:r>
            <a:r>
              <a:rPr lang="es-MX" dirty="0"/>
              <a:t>de residuos con educación ambiental, participación </a:t>
            </a:r>
            <a:r>
              <a:rPr lang="es-MX" dirty="0" smtClean="0"/>
              <a:t>comunitaria y generación de datos para mejorar y fortalecer </a:t>
            </a:r>
            <a:r>
              <a:rPr lang="es-MX" dirty="0"/>
              <a:t>políticas locales hacia </a:t>
            </a:r>
            <a:r>
              <a:rPr lang="es-MX" b="1" dirty="0"/>
              <a:t>Basura</a:t>
            </a:r>
            <a:r>
              <a:rPr lang="es-MX" dirty="0"/>
              <a:t> Cero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6915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96" y="874643"/>
            <a:ext cx="12108931" cy="454539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71061" y="2408676"/>
            <a:ext cx="5817704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 smtClean="0"/>
              <a:t>Estos residuos aumentan el </a:t>
            </a:r>
            <a:r>
              <a:rPr lang="es-MX" dirty="0"/>
              <a:t>riesgo de inundaciones, </a:t>
            </a:r>
            <a:r>
              <a:rPr lang="es-MX" dirty="0" smtClean="0"/>
              <a:t>contaminan </a:t>
            </a:r>
            <a:r>
              <a:rPr lang="es-MX" dirty="0"/>
              <a:t>directamente las lagunas, arroyos y ríos que son utilizados por nuestra población para bañarse, practicar deportes acuáticos o pescar y </a:t>
            </a:r>
            <a:r>
              <a:rPr lang="es-MX" dirty="0" smtClean="0"/>
              <a:t>afectan </a:t>
            </a:r>
            <a:r>
              <a:rPr lang="es-MX" dirty="0"/>
              <a:t>a toda la fauna y la flora que hace parte de estos ecosistemas acuáticos</a:t>
            </a:r>
            <a:r>
              <a:rPr lang="es-MX" dirty="0" smtClean="0"/>
              <a:t>.</a:t>
            </a:r>
            <a:endParaRPr lang="es-AR" dirty="0"/>
          </a:p>
        </p:txBody>
      </p:sp>
      <p:sp>
        <p:nvSpPr>
          <p:cNvPr id="6" name="CuadroTexto 5"/>
          <p:cNvSpPr txBox="1"/>
          <p:nvPr/>
        </p:nvSpPr>
        <p:spPr>
          <a:xfrm>
            <a:off x="371061" y="980661"/>
            <a:ext cx="36310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¿Por qué es importante esta guía?</a:t>
            </a:r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669235" y="3886004"/>
            <a:ext cx="522135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Con esta guía podrán generar una acción con impacto en su comunidad, de tal forma, que podamos ir haciendo de Basura Cero una realidad.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648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944"/>
            <a:ext cx="11953460" cy="522565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086678" y="5274268"/>
            <a:ext cx="1895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Un paso a paso operativo</a:t>
            </a:r>
            <a:endParaRPr lang="es-AR" dirty="0"/>
          </a:p>
        </p:txBody>
      </p:sp>
      <p:cxnSp>
        <p:nvCxnSpPr>
          <p:cNvPr id="7" name="Conector recto 6"/>
          <p:cNvCxnSpPr/>
          <p:nvPr/>
        </p:nvCxnSpPr>
        <p:spPr>
          <a:xfrm flipV="1">
            <a:off x="1192696" y="5062330"/>
            <a:ext cx="1470991" cy="265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1802296" y="4000117"/>
            <a:ext cx="728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Icono plan</a:t>
            </a:r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3770243" y="5294148"/>
            <a:ext cx="1895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Instrumentos de ciencia ciudadana</a:t>
            </a:r>
            <a:endParaRPr lang="es-AR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3876261" y="5082210"/>
            <a:ext cx="1470991" cy="265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4717773" y="4149159"/>
            <a:ext cx="1484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Icono ciencia ciudadana</a:t>
            </a:r>
            <a:endParaRPr lang="es-AR" dirty="0"/>
          </a:p>
        </p:txBody>
      </p:sp>
      <p:sp>
        <p:nvSpPr>
          <p:cNvPr id="12" name="CuadroTexto 11"/>
          <p:cNvSpPr txBox="1"/>
          <p:nvPr/>
        </p:nvSpPr>
        <p:spPr>
          <a:xfrm>
            <a:off x="6619468" y="5307400"/>
            <a:ext cx="1895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Recursos de educación y comunicación</a:t>
            </a:r>
            <a:endParaRPr lang="es-AR" dirty="0"/>
          </a:p>
        </p:txBody>
      </p:sp>
      <p:cxnSp>
        <p:nvCxnSpPr>
          <p:cNvPr id="13" name="Conector recto 12"/>
          <p:cNvCxnSpPr/>
          <p:nvPr/>
        </p:nvCxnSpPr>
        <p:spPr>
          <a:xfrm flipV="1">
            <a:off x="6725486" y="5095462"/>
            <a:ext cx="1470991" cy="265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7566998" y="4136960"/>
            <a:ext cx="1550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Icono educación y comunicación</a:t>
            </a:r>
            <a:endParaRPr lang="es-AR" dirty="0"/>
          </a:p>
        </p:txBody>
      </p:sp>
      <p:sp>
        <p:nvSpPr>
          <p:cNvPr id="15" name="CuadroTexto 14"/>
          <p:cNvSpPr txBox="1"/>
          <p:nvPr/>
        </p:nvSpPr>
        <p:spPr>
          <a:xfrm>
            <a:off x="9515067" y="5294148"/>
            <a:ext cx="1895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Conceptos de Basura Cero y GIRSU</a:t>
            </a:r>
            <a:endParaRPr lang="es-AR" dirty="0"/>
          </a:p>
        </p:txBody>
      </p:sp>
      <p:cxnSp>
        <p:nvCxnSpPr>
          <p:cNvPr id="16" name="Conector recto 15"/>
          <p:cNvCxnSpPr/>
          <p:nvPr/>
        </p:nvCxnSpPr>
        <p:spPr>
          <a:xfrm flipV="1">
            <a:off x="9621085" y="5082210"/>
            <a:ext cx="1470991" cy="265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10482476" y="4031210"/>
            <a:ext cx="1470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Icono conceptos clave</a:t>
            </a:r>
            <a:endParaRPr lang="es-AR" dirty="0"/>
          </a:p>
        </p:txBody>
      </p:sp>
      <p:sp>
        <p:nvSpPr>
          <p:cNvPr id="18" name="CuadroTexto 17"/>
          <p:cNvSpPr txBox="1"/>
          <p:nvPr/>
        </p:nvSpPr>
        <p:spPr>
          <a:xfrm>
            <a:off x="6202017" y="3048000"/>
            <a:ext cx="41745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a</a:t>
            </a:r>
            <a:endParaRPr lang="es-AR" dirty="0"/>
          </a:p>
        </p:txBody>
      </p:sp>
      <p:cxnSp>
        <p:nvCxnSpPr>
          <p:cNvPr id="19" name="Conector recto 18"/>
          <p:cNvCxnSpPr/>
          <p:nvPr/>
        </p:nvCxnSpPr>
        <p:spPr>
          <a:xfrm flipV="1">
            <a:off x="3359425" y="3509043"/>
            <a:ext cx="5685183" cy="1121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 flipV="1">
            <a:off x="8733186" y="3278887"/>
            <a:ext cx="1106556" cy="3146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99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" y="580628"/>
            <a:ext cx="12188705" cy="5468001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64024" y="5199797"/>
            <a:ext cx="343923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200" dirty="0"/>
              <a:t>R</a:t>
            </a:r>
            <a:r>
              <a:rPr lang="es-MX" sz="1200" dirty="0" smtClean="0"/>
              <a:t>eúne todo lo necesario para preparar la jornada: actores a convocar, equipo de coordinación, materiales, elección del sitio, tiempos y estrategia de convocatoria y comunicación previa.</a:t>
            </a:r>
            <a:endParaRPr lang="es-AR" sz="1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4363989" y="5199798"/>
            <a:ext cx="3415236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400" dirty="0" smtClean="0"/>
              <a:t>Describe </a:t>
            </a:r>
            <a:r>
              <a:rPr lang="es-MX" sz="1400" dirty="0"/>
              <a:t>cómo se realiza en el territorio la jornada: limpieza en ribera y dentro de la laguna, clasificación, conteo y pesaje de residuos, acciones en el </a:t>
            </a:r>
            <a:r>
              <a:rPr lang="es-MX" sz="1400" dirty="0" err="1"/>
              <a:t>gazebo</a:t>
            </a:r>
            <a:r>
              <a:rPr lang="es-MX" sz="1400" dirty="0"/>
              <a:t> informativo, espacio de niñeces y registro comunicacional del proceso.</a:t>
            </a:r>
            <a:endParaRPr lang="es-AR" sz="1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8263953" y="4876632"/>
            <a:ext cx="3152633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400" dirty="0"/>
              <a:t>R</a:t>
            </a:r>
            <a:r>
              <a:rPr lang="es-MX" sz="1400" dirty="0" smtClean="0"/>
              <a:t>eúne la charla de cierre con participantes, la socialización de resultados y aprendizajes, y la difusión pública del impacto de la jornada para fortalecer el compromiso comunitario hacia Basura Cero e incidencia en políticas públicas locales.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308925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537"/>
            <a:ext cx="12192000" cy="444169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59557" y="3653904"/>
            <a:ext cx="2429301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AR" dirty="0" smtClean="0"/>
              <a:t>Áreas </a:t>
            </a:r>
            <a:r>
              <a:rPr lang="es-AR" dirty="0"/>
              <a:t>de ambiente y </a:t>
            </a:r>
            <a:r>
              <a:rPr lang="es-AR" dirty="0" smtClean="0"/>
              <a:t>turismo que quieran generar acciones de educación y cuidado del agua junto a la comunidad</a:t>
            </a:r>
            <a:endParaRPr lang="es-AR" dirty="0"/>
          </a:p>
        </p:txBody>
      </p:sp>
      <p:sp>
        <p:nvSpPr>
          <p:cNvPr id="6" name="CuadroTexto 5"/>
          <p:cNvSpPr txBox="1"/>
          <p:nvPr/>
        </p:nvSpPr>
        <p:spPr>
          <a:xfrm>
            <a:off x="3398290" y="3653904"/>
            <a:ext cx="2429301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 smtClean="0"/>
              <a:t>Quieran organizar jornadas de limpieza y educación ambiental en lagunas, ríos o arroyos con enfoque de Basura Cero y participación comunitaria</a:t>
            </a:r>
            <a:endParaRPr lang="es-AR" dirty="0"/>
          </a:p>
        </p:txBody>
      </p:sp>
      <p:sp>
        <p:nvSpPr>
          <p:cNvPr id="8" name="CuadroTexto 7"/>
          <p:cNvSpPr txBox="1"/>
          <p:nvPr/>
        </p:nvSpPr>
        <p:spPr>
          <a:xfrm>
            <a:off x="6237023" y="3653903"/>
            <a:ext cx="2429301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 smtClean="0"/>
              <a:t>Vecinos </a:t>
            </a:r>
            <a:r>
              <a:rPr lang="es-MX" dirty="0" err="1" smtClean="0"/>
              <a:t>autoconvocados</a:t>
            </a:r>
            <a:r>
              <a:rPr lang="es-MX" dirty="0" smtClean="0"/>
              <a:t> que quieren cuidar y recuperar el valor ambiental sus lagunas, ríos o arroyos.</a:t>
            </a:r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9639863" y="4254069"/>
            <a:ext cx="24293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 smtClean="0"/>
              <a:t>Y ciencia ciudadana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3394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0" y="537760"/>
            <a:ext cx="11939652" cy="541656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04716" y="3248167"/>
            <a:ext cx="380772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800" dirty="0"/>
              <a:t>Siguiendo esta guía, van a encontrar que además de limpiar, se genera toda una acción de </a:t>
            </a:r>
            <a:r>
              <a:rPr lang="es-MX" sz="800" b="1" dirty="0"/>
              <a:t>educación</a:t>
            </a:r>
            <a:r>
              <a:rPr lang="es-MX" sz="800" dirty="0"/>
              <a:t>, de </a:t>
            </a:r>
            <a:r>
              <a:rPr lang="es-MX" sz="800" b="1" dirty="0"/>
              <a:t>reflexión</a:t>
            </a:r>
            <a:r>
              <a:rPr lang="es-MX" sz="800" dirty="0"/>
              <a:t>, de </a:t>
            </a:r>
            <a:r>
              <a:rPr lang="es-MX" sz="800" b="1" dirty="0"/>
              <a:t>sentido de pertenencia</a:t>
            </a:r>
            <a:r>
              <a:rPr lang="es-MX" sz="800" dirty="0"/>
              <a:t> y, además, con los resultados del </a:t>
            </a:r>
            <a:r>
              <a:rPr lang="es-MX" sz="800" b="1" dirty="0"/>
              <a:t>censo de residuos</a:t>
            </a:r>
            <a:r>
              <a:rPr lang="es-MX" sz="800" dirty="0"/>
              <a:t> se podrán hacer recomendaciones para la política local de Gestión Integral de Residuos Sólidos, para las áreas encargadas del turismo y para el área de gestión ambiental en general.</a:t>
            </a:r>
            <a:endParaRPr lang="es-AR" sz="800" dirty="0"/>
          </a:p>
          <a:p>
            <a:endParaRPr lang="es-AR" sz="8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009935" y="2347415"/>
            <a:ext cx="141936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 smtClean="0"/>
              <a:t>Metodología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91156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397</Words>
  <Application>Microsoft Office PowerPoint</Application>
  <PresentationFormat>Panorámica</PresentationFormat>
  <Paragraphs>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Ramirez</dc:creator>
  <cp:lastModifiedBy>Paula Andrea Ramirez</cp:lastModifiedBy>
  <cp:revision>7</cp:revision>
  <dcterms:created xsi:type="dcterms:W3CDTF">2026-03-17T02:31:00Z</dcterms:created>
  <dcterms:modified xsi:type="dcterms:W3CDTF">2026-03-17T03:41:41Z</dcterms:modified>
</cp:coreProperties>
</file>